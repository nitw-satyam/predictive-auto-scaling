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Auto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Major Project | Computer Science and Engineering</a:t>
            </a:r>
          </a:p>
          <a:p>
            <a:pPr>
              <a:spcAft>
                <a:spcPts val="1000"/>
              </a:spcAft>
              <a:defRPr sz="2100"/>
            </a:pPr>
            <a:r>
              <a:t>Dharmendra Kumar Gupta (26CSM1R35)</a:t>
            </a:r>
          </a:p>
          <a:p>
            <a:pPr>
              <a:spcAft>
                <a:spcPts val="1000"/>
              </a:spcAft>
              <a:defRPr sz="2100"/>
            </a:pPr>
            <a:r>
              <a:t>Satyam Kumar Azad (26CSM1R22)</a:t>
            </a:r>
          </a:p>
          <a:p>
            <a:pPr>
              <a:spcAft>
                <a:spcPts val="1000"/>
              </a:spcAft>
              <a:defRPr sz="2100"/>
            </a:pPr>
            <a:r>
              <a:t>Mentor: Dr. Manoj Kumar Patra</a:t>
            </a:r>
          </a:p>
          <a:p>
            <a:pPr>
              <a:spcAft>
                <a:spcPts val="1000"/>
              </a:spcAft>
              <a:defRPr sz="2100"/>
            </a:pPr>
            <a:r>
              <a:t>Academic Year: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Reactive thresholds can react late to spikes.</a:t>
            </a:r>
          </a:p>
          <a:p>
            <a:pPr>
              <a:spcAft>
                <a:spcPts val="1000"/>
              </a:spcAft>
              <a:defRPr sz="2100"/>
            </a:pPr>
            <a:r>
              <a:t>Frequent decisions can cause oscillation and unnecessary cost.</a:t>
            </a:r>
          </a:p>
          <a:p>
            <a:pPr>
              <a:spcAft>
                <a:spcPts val="1000"/>
              </a:spcAft>
              <a:defRPr sz="2100"/>
            </a:pPr>
            <a:r>
              <a:t>Compare reactive control with forecast + safety margin + hysteresis.</a:t>
            </a:r>
          </a:p>
          <a:p>
            <a:pPr>
              <a:spcAft>
                <a:spcPts val="1000"/>
              </a:spcAft>
              <a:defRPr sz="2100"/>
            </a:pPr>
            <a:r>
              <a:t>Evaluate six workload patterns using latency, SLA, capacity, actions and cost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implement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6984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Generate fixed-seed workloads.</a:t>
            </a:r>
          </a:p>
          <a:p>
            <a:pPr>
              <a:spcAft>
                <a:spcPts val="1000"/>
              </a:spcAft>
              <a:defRPr sz="2100"/>
            </a:pPr>
            <a:r>
              <a:t>Run both controllers on identical scenario traces.</a:t>
            </a:r>
          </a:p>
          <a:p>
            <a:pPr>
              <a:spcAft>
                <a:spcPts val="1000"/>
              </a:spcAft>
              <a:defRPr sz="2100"/>
            </a:pPr>
            <a:r>
              <a:t>Model capacity per instance, warm-up delay, cooldown and SLA proxy.</a:t>
            </a:r>
          </a:p>
          <a:p>
            <a:pPr>
              <a:spcAft>
                <a:spcPts val="1000"/>
              </a:spcAft>
              <a:defRPr sz="2100"/>
            </a:pPr>
            <a:r>
              <a:t>Export raw CSVs, aggregate metrics, graphs and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Stable demand</a:t>
            </a:r>
          </a:p>
          <a:p>
            <a:pPr>
              <a:spcAft>
                <a:spcPts val="1000"/>
              </a:spcAft>
              <a:defRPr sz="2100"/>
            </a:pPr>
            <a:r>
              <a:t>Gradual ramp</a:t>
            </a:r>
          </a:p>
          <a:p>
            <a:pPr>
              <a:spcAft>
                <a:spcPts val="1000"/>
              </a:spcAft>
              <a:defRPr sz="2100"/>
            </a:pPr>
            <a:r>
              <a:t>Sudden spikes</a:t>
            </a:r>
          </a:p>
          <a:p>
            <a:pPr>
              <a:spcAft>
                <a:spcPts val="1000"/>
              </a:spcAft>
              <a:defRPr sz="2100"/>
            </a:pPr>
            <a:r>
              <a:t>Repeated bursts</a:t>
            </a:r>
          </a:p>
          <a:p>
            <a:pPr>
              <a:spcAft>
                <a:spcPts val="1000"/>
              </a:spcAft>
              <a:defRPr sz="2100"/>
            </a:pPr>
            <a:r>
              <a:t>Noisy fluctuation</a:t>
            </a:r>
          </a:p>
          <a:p>
            <a:pPr>
              <a:spcAft>
                <a:spcPts val="1000"/>
              </a:spcAft>
              <a:defRPr sz="2100"/>
            </a:pPr>
            <a:r>
              <a:t>Spike and recovery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capacity comparison</a:t>
            </a:r>
          </a:p>
        </p:txBody>
      </p:sp>
      <p:pic>
        <p:nvPicPr>
          <p:cNvPr id="3" name="Picture 2" descr="avg_instances_by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6984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Tail latency comparison</a:t>
            </a:r>
          </a:p>
        </p:txBody>
      </p:sp>
      <p:pic>
        <p:nvPicPr>
          <p:cNvPr id="3" name="Picture 2" descr="p95_latency_by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6984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 comparison</a:t>
            </a:r>
          </a:p>
        </p:txBody>
      </p:sp>
      <p:pic>
        <p:nvPicPr>
          <p:cNvPr id="3" name="Picture 2" descr="sla_by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6984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actions comparison</a:t>
            </a:r>
          </a:p>
        </p:txBody>
      </p:sp>
      <p:pic>
        <p:nvPicPr>
          <p:cNvPr id="3" name="Picture 2" descr="scaling_actions_by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6984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Demand and scaling timeline</a:t>
            </a:r>
          </a:p>
        </p:txBody>
      </p:sp>
      <p:pic>
        <p:nvPicPr>
          <p:cNvPr id="3" name="Picture 2" descr="instance_timeline_spi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6984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quality</a:t>
            </a:r>
          </a:p>
        </p:txBody>
      </p:sp>
      <p:pic>
        <p:nvPicPr>
          <p:cNvPr id="3" name="Picture 2" descr="forecast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6984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Cost–latency trade-off</a:t>
            </a:r>
          </a:p>
        </p:txBody>
      </p:sp>
      <p:pic>
        <p:nvPicPr>
          <p:cNvPr id="3" name="Picture 2" descr="cost_latency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6984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honest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All current benchmark values are simulated.</a:t>
            </a:r>
          </a:p>
          <a:p>
            <a:pPr>
              <a:spcAft>
                <a:spcPts val="1000"/>
              </a:spcAft>
              <a:defRPr sz="2100"/>
            </a:pPr>
            <a:r>
              <a:t>Synthetic workloads and simplified latency proxy.</a:t>
            </a:r>
          </a:p>
          <a:p>
            <a:pPr>
              <a:spcAft>
                <a:spcPts val="1000"/>
              </a:spcAft>
              <a:defRPr sz="2100"/>
            </a:pPr>
            <a:r>
              <a:t>Instance-minute count is a relative cost proxy, not billing.</a:t>
            </a:r>
          </a:p>
          <a:p>
            <a:pPr>
              <a:spcAft>
                <a:spcPts val="1000"/>
              </a:spcAft>
              <a:defRPr sz="2100"/>
            </a:pPr>
            <a:r>
              <a:t>Cloud deployment and real load testing remain future phases.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to final major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Compare additional forecasting models.</a:t>
            </a:r>
          </a:p>
          <a:p>
            <a:pPr>
              <a:spcAft>
                <a:spcPts val="1000"/>
              </a:spcAft>
              <a:defRPr sz="2100"/>
            </a:pPr>
            <a:r>
              <a:t>Run repeated seeds and report confidence intervals.</a:t>
            </a:r>
          </a:p>
          <a:p>
            <a:pPr>
              <a:spcAft>
                <a:spcPts val="1000"/>
              </a:spcAft>
              <a:defRPr sz="2100"/>
            </a:pPr>
            <a:r>
              <a:t>Integrate CPU/memory/queue metrics.</a:t>
            </a:r>
          </a:p>
          <a:p>
            <a:pPr>
              <a:spcAft>
                <a:spcPts val="1000"/>
              </a:spcAft>
              <a:defRPr sz="2100"/>
            </a:pPr>
            <a:r>
              <a:t>Run Locust against a real service.</a:t>
            </a:r>
          </a:p>
          <a:p>
            <a:pPr>
              <a:spcAft>
                <a:spcPts val="1000"/>
              </a:spcAft>
              <a:defRPr sz="2100"/>
            </a:pPr>
            <a:r>
              <a:t>Deploy to a cloud autoscaler or Kubernetes and measure actual outcomes.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The package now has a broader benchmark, raw traces, tests and graph-rich reporting.</a:t>
            </a:r>
          </a:p>
          <a:p>
            <a:pPr>
              <a:spcAft>
                <a:spcPts val="1000"/>
              </a:spcAft>
              <a:defRPr sz="2100"/>
            </a:pPr>
            <a:r>
              <a:t>The next quality milestone is same-trace baseline evaluation and real workload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